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7390AF-BD22-C0DC-7D84-4D732BD9E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2426-FB73-7493-34D2-5A36DB853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188557-922E-15A6-5F92-31A2C8E1F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F95F5-DBD1-91F0-CAB1-C628F2D5D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EEEBDF-4E83-2892-EE21-08FF59D1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69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09E1B-889F-85C6-E116-4D096804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B4E6A6-7B91-4F1B-FF3C-890E32906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A2BA85-CB43-961B-E9E8-F80638D74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F27C81-7E0E-8B1C-837B-1B9C0D0E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152EBF-31EC-F026-620D-73466E19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210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19D2E4-596B-6CE3-D563-BBEE6D8D8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AF5218-7194-E328-28B7-3940D9721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30CA10-3E0F-9802-0DD1-A1BB6003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798FFA-7D21-79AA-8795-36093EF7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DEF051-11FE-5012-B74B-ADA3AFC4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6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FD5F3-7B21-3A12-5AA1-AEB74213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D8F68C-9E05-159F-92DC-5B1D681EB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1404D5-6169-9C66-7849-286049B43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4C2A56-5593-BE56-61E4-07CF53CD6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E611F3-AABB-A7A9-AB43-A3CA1B4A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7FC0D6-06BD-1B6E-1EC4-1AC773F0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74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C3A30-347C-4F86-6604-6EE452913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73D01F-F9F1-5D8E-3D9E-9C7B6CE80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ED8D4A-DDFB-FE85-136C-61FCE9484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6871F6D-C8B0-23B0-EBAA-FAF1D1049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07D2C0-76B0-5518-E483-90C9DDDBD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A24509-5DE4-D2FC-ED8A-F352D2C9E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4012AF-C181-D5FB-5FC0-A366FAD6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77654F-FC46-F4C9-B2EC-09094903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006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64BA5-4966-3B94-A646-D6D5D497F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975AB0-D77B-3C38-5B70-B18BF9E2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FB92BE-1FFC-9B48-B0D3-3C33C8232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34116C-3CF0-098A-09C4-D8A127519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529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E87E6D9-349F-76A3-2FC5-05AFD556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EE89C4-52AF-66FC-6EA0-8B7E5411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547C4-622A-D934-EA8B-0E547633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404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368A9-CBCE-8F20-29E4-99A495D42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D214CF-FB57-4903-4573-E3D0B7368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AC4F14-D2D2-98C9-E68D-0AB45B7E0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ECA5D5-BF9C-4FE7-8E75-14E6A11A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360B02-6DFB-0130-3710-B2FBE3815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923953-F884-0C56-C1BE-B56ED8890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71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CAB10-2B78-CA04-51E9-1E0C22C5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128FD2-0D93-7530-DC2F-9D6D111AC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682304-DC60-8CA7-9E55-645E447F9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8AE290-1209-AA6A-58E5-9357FBA48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8F5E5F-3C2E-D40C-81F4-C2564C0F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34EB26-DEE8-580E-AE3F-686E06DE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79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86E4E0-E711-2EA1-A240-B52377D36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A192EA-F3DB-7D55-68F4-8F4878A4E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C815D1-D7AF-8F66-395A-03C695754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447CE-BF1D-6561-E58F-725A55B9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2DF5B-5D49-E613-5E40-58701152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901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5A7DCD-9D70-216B-3D13-DC5CC93C5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F12551-9835-D290-E1F1-B3B65C440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F29540-5944-C649-EA31-A152E6B5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ABD04D-C6F5-57A5-7B10-FBFC8D49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A4036-6759-76DA-A030-333C28F98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95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37EC94D-0F06-649D-121A-AD2715D2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650B91-F500-9132-8AE4-8E0C05CF9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F9491C-DA96-D8F4-3580-74CEFDC1C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F5895-B138-431C-B7F3-99ABC0570D38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466B7A-7A6C-CBF2-6E15-4F35A0D4B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7B3A-0D77-B96D-BA85-0CA546BCC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D4BC1-A3C8-4F41-8EC2-4AC2FD2A4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36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6EFAC26-8516-8518-63E0-6FCCF7FE6CBD}"/>
              </a:ext>
            </a:extLst>
          </p:cNvPr>
          <p:cNvSpPr/>
          <p:nvPr/>
        </p:nvSpPr>
        <p:spPr>
          <a:xfrm>
            <a:off x="1638300" y="2032000"/>
            <a:ext cx="1473200" cy="787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Api gateway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C8071A-F9F5-6217-B988-BB0E1F8F7802}"/>
              </a:ext>
            </a:extLst>
          </p:cNvPr>
          <p:cNvSpPr/>
          <p:nvPr/>
        </p:nvSpPr>
        <p:spPr>
          <a:xfrm>
            <a:off x="3759200" y="2032000"/>
            <a:ext cx="1473200" cy="787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Auth 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57564E-AFFE-7709-502E-FD06C93BE1E4}"/>
              </a:ext>
            </a:extLst>
          </p:cNvPr>
          <p:cNvSpPr/>
          <p:nvPr/>
        </p:nvSpPr>
        <p:spPr>
          <a:xfrm>
            <a:off x="5880100" y="2032000"/>
            <a:ext cx="1473200" cy="787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Agent 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8E38C5-7271-F37D-10E5-615B034496D2}"/>
              </a:ext>
            </a:extLst>
          </p:cNvPr>
          <p:cNvSpPr/>
          <p:nvPr/>
        </p:nvSpPr>
        <p:spPr>
          <a:xfrm>
            <a:off x="8001000" y="2032000"/>
            <a:ext cx="1473200" cy="787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Web front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원통형 7">
            <a:extLst>
              <a:ext uri="{FF2B5EF4-FFF2-40B4-BE49-F238E27FC236}">
                <a16:creationId xmlns:a16="http://schemas.microsoft.com/office/drawing/2014/main" id="{6BCBB7F3-E5EE-A909-B190-40648126F018}"/>
              </a:ext>
            </a:extLst>
          </p:cNvPr>
          <p:cNvSpPr/>
          <p:nvPr/>
        </p:nvSpPr>
        <p:spPr>
          <a:xfrm>
            <a:off x="3759200" y="3543300"/>
            <a:ext cx="1473200" cy="660400"/>
          </a:xfrm>
          <a:prstGeom prst="can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mariadb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C749E383-0C09-2F06-82A8-4FF4B6FFB4F3}"/>
              </a:ext>
            </a:extLst>
          </p:cNvPr>
          <p:cNvCxnSpPr>
            <a:stCxn id="4" idx="2"/>
            <a:endCxn id="8" idx="1"/>
          </p:cNvCxnSpPr>
          <p:nvPr/>
        </p:nvCxnSpPr>
        <p:spPr>
          <a:xfrm rot="16200000" flipH="1">
            <a:off x="3073400" y="2120900"/>
            <a:ext cx="723900" cy="21209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3AC16DEA-5ECB-FFB0-D39D-2F06163F089B}"/>
              </a:ext>
            </a:extLst>
          </p:cNvPr>
          <p:cNvCxnSpPr>
            <a:stCxn id="5" idx="2"/>
            <a:endCxn id="8" idx="1"/>
          </p:cNvCxnSpPr>
          <p:nvPr/>
        </p:nvCxnSpPr>
        <p:spPr>
          <a:xfrm rot="5400000">
            <a:off x="4133850" y="3181350"/>
            <a:ext cx="723900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E579494A-E6A0-B298-6002-450FD5212772}"/>
              </a:ext>
            </a:extLst>
          </p:cNvPr>
          <p:cNvCxnSpPr>
            <a:stCxn id="6" idx="2"/>
            <a:endCxn id="8" idx="1"/>
          </p:cNvCxnSpPr>
          <p:nvPr/>
        </p:nvCxnSpPr>
        <p:spPr>
          <a:xfrm rot="5400000">
            <a:off x="5194300" y="2120900"/>
            <a:ext cx="723900" cy="21209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50A0B65-4D04-1493-B8C2-807798891137}"/>
              </a:ext>
            </a:extLst>
          </p:cNvPr>
          <p:cNvSpPr/>
          <p:nvPr/>
        </p:nvSpPr>
        <p:spPr>
          <a:xfrm>
            <a:off x="1346200" y="1409700"/>
            <a:ext cx="8470900" cy="3162300"/>
          </a:xfrm>
          <a:prstGeom prst="roundRect">
            <a:avLst>
              <a:gd name="adj" fmla="val 618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6E8C44-42C1-2D53-BA2B-53DB5A7125F8}"/>
              </a:ext>
            </a:extLst>
          </p:cNvPr>
          <p:cNvSpPr txBox="1"/>
          <p:nvPr/>
        </p:nvSpPr>
        <p:spPr>
          <a:xfrm>
            <a:off x="4708569" y="1421368"/>
            <a:ext cx="13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SaaS server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1D66927-7F05-5102-061B-600B79A7F69C}"/>
              </a:ext>
            </a:extLst>
          </p:cNvPr>
          <p:cNvSpPr/>
          <p:nvPr/>
        </p:nvSpPr>
        <p:spPr>
          <a:xfrm>
            <a:off x="2781300" y="5587999"/>
            <a:ext cx="1473200" cy="787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Agent #1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Pipeline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8886628-71B2-BADD-86DC-E752A4131420}"/>
              </a:ext>
            </a:extLst>
          </p:cNvPr>
          <p:cNvSpPr/>
          <p:nvPr/>
        </p:nvSpPr>
        <p:spPr>
          <a:xfrm>
            <a:off x="4895850" y="5587999"/>
            <a:ext cx="1473200" cy="787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Agent #2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Pipeline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76C996-8870-5521-67DA-EB0E66BE5FAA}"/>
              </a:ext>
            </a:extLst>
          </p:cNvPr>
          <p:cNvSpPr/>
          <p:nvPr/>
        </p:nvSpPr>
        <p:spPr>
          <a:xfrm>
            <a:off x="7010400" y="5587999"/>
            <a:ext cx="1473200" cy="787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Agent #N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Pipeline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02DB6B4-1A62-4DE7-C3FC-D112A6467DED}"/>
              </a:ext>
            </a:extLst>
          </p:cNvPr>
          <p:cNvCxnSpPr>
            <a:cxnSpLocks/>
          </p:cNvCxnSpPr>
          <p:nvPr/>
        </p:nvCxnSpPr>
        <p:spPr>
          <a:xfrm flipV="1">
            <a:off x="3517900" y="4724400"/>
            <a:ext cx="0" cy="812799"/>
          </a:xfrm>
          <a:prstGeom prst="straightConnector1">
            <a:avLst/>
          </a:prstGeom>
          <a:ln w="508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5CC20EC-0639-264D-09C5-36D928D24610}"/>
              </a:ext>
            </a:extLst>
          </p:cNvPr>
          <p:cNvCxnSpPr>
            <a:cxnSpLocks/>
          </p:cNvCxnSpPr>
          <p:nvPr/>
        </p:nvCxnSpPr>
        <p:spPr>
          <a:xfrm flipV="1">
            <a:off x="5645150" y="4724400"/>
            <a:ext cx="0" cy="812799"/>
          </a:xfrm>
          <a:prstGeom prst="straightConnector1">
            <a:avLst/>
          </a:prstGeom>
          <a:ln w="508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7A39FFE-B6F9-241B-7F22-DA0C4322305E}"/>
              </a:ext>
            </a:extLst>
          </p:cNvPr>
          <p:cNvCxnSpPr>
            <a:cxnSpLocks/>
          </p:cNvCxnSpPr>
          <p:nvPr/>
        </p:nvCxnSpPr>
        <p:spPr>
          <a:xfrm flipV="1">
            <a:off x="7759700" y="4724400"/>
            <a:ext cx="0" cy="812799"/>
          </a:xfrm>
          <a:prstGeom prst="straightConnector1">
            <a:avLst/>
          </a:prstGeom>
          <a:ln w="508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3C35D30-76AB-89D9-EDA7-A4EF5CE12269}"/>
              </a:ext>
            </a:extLst>
          </p:cNvPr>
          <p:cNvSpPr txBox="1"/>
          <p:nvPr/>
        </p:nvSpPr>
        <p:spPr>
          <a:xfrm>
            <a:off x="952500" y="3429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전체 아키텍처</a:t>
            </a:r>
          </a:p>
        </p:txBody>
      </p:sp>
    </p:spTree>
    <p:extLst>
      <p:ext uri="{BB962C8B-B14F-4D97-AF65-F5344CB8AC3E}">
        <p14:creationId xmlns:p14="http://schemas.microsoft.com/office/powerpoint/2010/main" val="714266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B92417-7EF7-B6C7-14E1-6BA71ECC3672}"/>
              </a:ext>
            </a:extLst>
          </p:cNvPr>
          <p:cNvSpPr txBox="1"/>
          <p:nvPr/>
        </p:nvSpPr>
        <p:spPr>
          <a:xfrm>
            <a:off x="1041400" y="63500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서비스 단위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BB14C76-874B-EA8B-7C84-B41B4F592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255468"/>
              </p:ext>
            </p:extLst>
          </p:nvPr>
        </p:nvGraphicFramePr>
        <p:xfrm>
          <a:off x="1041400" y="1682274"/>
          <a:ext cx="10515600" cy="2851626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843587367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4972388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36759184"/>
                    </a:ext>
                  </a:extLst>
                </a:gridCol>
              </a:tblGrid>
              <a:tr h="475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effectLst/>
                        </a:rPr>
                        <a:t>서비스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effectLst/>
                        </a:rPr>
                        <a:t>역할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>
                          <a:effectLst/>
                        </a:rPr>
                        <a:t>포트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512496"/>
                  </a:ext>
                </a:extLst>
              </a:tr>
              <a:tr h="475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API Gateway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외부 요청 라우팅</a:t>
                      </a:r>
                      <a:r>
                        <a:rPr lang="en-US" altLang="ko-KR">
                          <a:effectLst/>
                        </a:rPr>
                        <a:t>, </a:t>
                      </a:r>
                      <a:r>
                        <a:rPr lang="ko-KR" altLang="en-US">
                          <a:effectLst/>
                        </a:rPr>
                        <a:t>인증 미들웨어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>
                          <a:effectLst/>
                        </a:rPr>
                        <a:t>443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061199"/>
                  </a:ext>
                </a:extLst>
              </a:tr>
              <a:tr h="475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Auth Service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</a:rPr>
                        <a:t>사용자</a:t>
                      </a:r>
                      <a:r>
                        <a:rPr lang="en-US" altLang="ko-KR" dirty="0">
                          <a:effectLst/>
                        </a:rPr>
                        <a:t>/Agent </a:t>
                      </a:r>
                      <a:r>
                        <a:rPr lang="ko-KR" altLang="en-US" dirty="0">
                          <a:effectLst/>
                        </a:rPr>
                        <a:t>인증</a:t>
                      </a:r>
                      <a:r>
                        <a:rPr lang="en-US" altLang="ko-KR" dirty="0">
                          <a:effectLst/>
                        </a:rPr>
                        <a:t>, </a:t>
                      </a:r>
                      <a:r>
                        <a:rPr lang="ko-KR" altLang="en-US" dirty="0">
                          <a:effectLst/>
                        </a:rPr>
                        <a:t>토큰 관리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>
                          <a:effectLst/>
                        </a:rPr>
                        <a:t>9090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647190"/>
                  </a:ext>
                </a:extLst>
              </a:tr>
              <a:tr h="475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Agent Service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 err="1">
                          <a:effectLst/>
                        </a:rPr>
                        <a:t>gRPC</a:t>
                      </a:r>
                      <a:r>
                        <a:rPr lang="en-US" altLang="ko-KR" dirty="0">
                          <a:effectLst/>
                        </a:rPr>
                        <a:t> </a:t>
                      </a:r>
                      <a:r>
                        <a:rPr lang="ko-KR" altLang="en-US" dirty="0">
                          <a:effectLst/>
                        </a:rPr>
                        <a:t>스트림 수신</a:t>
                      </a:r>
                      <a:r>
                        <a:rPr lang="en-US" altLang="ko-KR" dirty="0">
                          <a:effectLst/>
                        </a:rPr>
                        <a:t>, Agent </a:t>
                      </a:r>
                      <a:r>
                        <a:rPr lang="ko-KR" altLang="en-US" dirty="0">
                          <a:effectLst/>
                        </a:rPr>
                        <a:t>상태 관리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>
                          <a:effectLst/>
                        </a:rPr>
                        <a:t>50051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719486"/>
                  </a:ext>
                </a:extLst>
              </a:tr>
              <a:tr h="475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Data Service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</a:rPr>
                        <a:t>수집 데이터 </a:t>
                      </a:r>
                      <a:r>
                        <a:rPr lang="en-US" dirty="0">
                          <a:effectLst/>
                        </a:rPr>
                        <a:t>CRUD API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>
                          <a:effectLst/>
                        </a:rPr>
                        <a:t>9091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780057"/>
                  </a:ext>
                </a:extLst>
              </a:tr>
              <a:tr h="475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Web Frontend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대시보드 </a:t>
                      </a:r>
                      <a:r>
                        <a:rPr lang="en-US">
                          <a:effectLst/>
                        </a:rPr>
                        <a:t>UI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>
                          <a:effectLst/>
                        </a:rPr>
                        <a:t>3000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7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5249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229108-0749-E9E7-5F7B-823739DF6858}"/>
              </a:ext>
            </a:extLst>
          </p:cNvPr>
          <p:cNvSpPr txBox="1"/>
          <p:nvPr/>
        </p:nvSpPr>
        <p:spPr>
          <a:xfrm>
            <a:off x="1041400" y="635000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Agent</a:t>
            </a:r>
            <a:r>
              <a:rPr lang="ko-KR" altLang="en-US" dirty="0"/>
              <a:t>등록 흐름</a:t>
            </a:r>
            <a:endParaRPr lang="en-US" altLang="ko-KR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824EE08-2841-5FCD-305C-59909A5336A8}"/>
              </a:ext>
            </a:extLst>
          </p:cNvPr>
          <p:cNvSpPr/>
          <p:nvPr/>
        </p:nvSpPr>
        <p:spPr>
          <a:xfrm>
            <a:off x="1320800" y="1536700"/>
            <a:ext cx="990600" cy="990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B58D76-C9C9-4E41-9AE2-F8C78498BCB0}"/>
              </a:ext>
            </a:extLst>
          </p:cNvPr>
          <p:cNvSpPr/>
          <p:nvPr/>
        </p:nvSpPr>
        <p:spPr>
          <a:xfrm>
            <a:off x="2859526" y="1638300"/>
            <a:ext cx="1473200" cy="787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sssa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web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A82374-F08C-967A-D54A-F128A80528F1}"/>
              </a:ext>
            </a:extLst>
          </p:cNvPr>
          <p:cNvSpPr/>
          <p:nvPr/>
        </p:nvSpPr>
        <p:spPr>
          <a:xfrm>
            <a:off x="5551926" y="1638300"/>
            <a:ext cx="1473200" cy="787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Auth 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6F69A9-6B77-31C0-7F04-E13A61190B96}"/>
              </a:ext>
            </a:extLst>
          </p:cNvPr>
          <p:cNvSpPr/>
          <p:nvPr/>
        </p:nvSpPr>
        <p:spPr>
          <a:xfrm>
            <a:off x="5551926" y="3035300"/>
            <a:ext cx="1473200" cy="939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Agent</a:t>
            </a:r>
            <a:r>
              <a:rPr lang="ko-KR" altLang="en-US" dirty="0">
                <a:solidFill>
                  <a:schemeClr val="tx1"/>
                </a:solidFill>
              </a:rPr>
              <a:t>등록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agnet</a:t>
            </a:r>
            <a:r>
              <a:rPr lang="en-US" altLang="ko-KR" dirty="0">
                <a:solidFill>
                  <a:schemeClr val="tx1"/>
                </a:solidFill>
              </a:rPr>
              <a:t>-key)</a:t>
            </a:r>
            <a:r>
              <a:rPr lang="ko-KR" altLang="en-US" dirty="0">
                <a:solidFill>
                  <a:schemeClr val="tx1"/>
                </a:solidFill>
              </a:rPr>
              <a:t>발급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DE7678-7037-88E7-AD48-335C5E46BC09}"/>
              </a:ext>
            </a:extLst>
          </p:cNvPr>
          <p:cNvSpPr/>
          <p:nvPr/>
        </p:nvSpPr>
        <p:spPr>
          <a:xfrm>
            <a:off x="2264652" y="4432301"/>
            <a:ext cx="2662948" cy="1142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Agent</a:t>
            </a:r>
            <a:r>
              <a:rPr lang="ko-KR" altLang="en-US" dirty="0">
                <a:solidFill>
                  <a:schemeClr val="tx1"/>
                </a:solidFill>
              </a:rPr>
              <a:t>설치 시 </a:t>
            </a:r>
            <a:r>
              <a:rPr lang="en-US" altLang="ko-KR" dirty="0">
                <a:solidFill>
                  <a:schemeClr val="tx1"/>
                </a:solidFill>
              </a:rPr>
              <a:t>key</a:t>
            </a:r>
            <a:r>
              <a:rPr lang="ko-KR" altLang="en-US" dirty="0">
                <a:solidFill>
                  <a:schemeClr val="tx1"/>
                </a:solidFill>
              </a:rPr>
              <a:t>설정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gPRC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연결시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agnet_key</a:t>
            </a:r>
            <a:r>
              <a:rPr lang="ko-KR" altLang="en-US" dirty="0">
                <a:solidFill>
                  <a:schemeClr val="tx1"/>
                </a:solidFill>
              </a:rPr>
              <a:t>로 인증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3B9E26-C89D-8157-B298-633529B202F5}"/>
              </a:ext>
            </a:extLst>
          </p:cNvPr>
          <p:cNvCxnSpPr>
            <a:stCxn id="7" idx="6"/>
            <a:endCxn id="8" idx="1"/>
          </p:cNvCxnSpPr>
          <p:nvPr/>
        </p:nvCxnSpPr>
        <p:spPr>
          <a:xfrm>
            <a:off x="2311400" y="2032000"/>
            <a:ext cx="5481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902634F-8D28-F7CF-391E-C74001D77CA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4332726" y="2032000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5452F4A-1DF4-5799-4295-9F208429D108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6288526" y="2425700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96250F1C-E5FA-F075-E801-442BE428A846}"/>
              </a:ext>
            </a:extLst>
          </p:cNvPr>
          <p:cNvCxnSpPr>
            <a:stCxn id="10" idx="1"/>
            <a:endCxn id="11" idx="0"/>
          </p:cNvCxnSpPr>
          <p:nvPr/>
        </p:nvCxnSpPr>
        <p:spPr>
          <a:xfrm rot="10800000" flipV="1">
            <a:off x="3596126" y="3505199"/>
            <a:ext cx="1955800" cy="9271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986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AE610E-F60A-05AA-694D-BC1A5CD0370E}"/>
              </a:ext>
            </a:extLst>
          </p:cNvPr>
          <p:cNvSpPr txBox="1"/>
          <p:nvPr/>
        </p:nvSpPr>
        <p:spPr>
          <a:xfrm>
            <a:off x="1041400" y="635000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Agent</a:t>
            </a:r>
            <a:r>
              <a:rPr lang="ko-KR" altLang="en-US" dirty="0"/>
              <a:t>데이터모델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756EF-2809-D405-3219-1E450FCE1706}"/>
              </a:ext>
            </a:extLst>
          </p:cNvPr>
          <p:cNvSpPr txBox="1"/>
          <p:nvPr/>
        </p:nvSpPr>
        <p:spPr>
          <a:xfrm>
            <a:off x="596900" y="1302177"/>
            <a:ext cx="1042670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-- 사용자</a:t>
            </a:r>
          </a:p>
          <a:p>
            <a:r>
              <a:rPr lang="ko-KR" altLang="en-US" sz="1100" dirty="0"/>
              <a:t>CREATE TABLE </a:t>
            </a:r>
            <a:r>
              <a:rPr lang="ko-KR" altLang="en-US" sz="1100" dirty="0" err="1"/>
              <a:t>users</a:t>
            </a:r>
            <a:r>
              <a:rPr lang="ko-KR" altLang="en-US" sz="1100" dirty="0"/>
              <a:t> (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id</a:t>
            </a:r>
            <a:r>
              <a:rPr lang="ko-KR" altLang="en-US" sz="1100" dirty="0"/>
              <a:t>          UUID PRIMARY KEY,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email</a:t>
            </a:r>
            <a:r>
              <a:rPr lang="ko-KR" altLang="en-US" sz="1100" dirty="0"/>
              <a:t>       VARCHAR(255) UNIQUE NOT NULL,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password</a:t>
            </a:r>
            <a:r>
              <a:rPr lang="ko-KR" altLang="en-US" sz="1100" dirty="0"/>
              <a:t>    VARCHAR(255) NOT NULL,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plan</a:t>
            </a:r>
            <a:r>
              <a:rPr lang="ko-KR" altLang="en-US" sz="1100" dirty="0"/>
              <a:t>        VARCHAR(50) DEFAULT '</a:t>
            </a:r>
            <a:r>
              <a:rPr lang="ko-KR" altLang="en-US" sz="1100" dirty="0" err="1"/>
              <a:t>free</a:t>
            </a:r>
            <a:r>
              <a:rPr lang="ko-KR" altLang="en-US" sz="1100" dirty="0"/>
              <a:t>',   -- </a:t>
            </a:r>
            <a:r>
              <a:rPr lang="ko-KR" altLang="en-US" sz="1100" dirty="0" err="1"/>
              <a:t>free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pro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enterprise</a:t>
            </a:r>
            <a:endParaRPr lang="ko-KR" altLang="en-US" sz="1100" dirty="0"/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created_at</a:t>
            </a:r>
            <a:r>
              <a:rPr lang="ko-KR" altLang="en-US" sz="1100" dirty="0"/>
              <a:t>  TIMESTAMP DEFAULT NOW()</a:t>
            </a:r>
          </a:p>
          <a:p>
            <a:r>
              <a:rPr lang="ko-KR" altLang="en-US" sz="1100" dirty="0"/>
              <a:t>);</a:t>
            </a:r>
          </a:p>
          <a:p>
            <a:endParaRPr lang="ko-KR" altLang="en-US" sz="1100" dirty="0"/>
          </a:p>
          <a:p>
            <a:r>
              <a:rPr lang="ko-KR" altLang="en-US" sz="1100" dirty="0"/>
              <a:t>-- </a:t>
            </a:r>
            <a:r>
              <a:rPr lang="ko-KR" altLang="en-US" sz="1100" dirty="0" err="1"/>
              <a:t>Agent</a:t>
            </a:r>
            <a:r>
              <a:rPr lang="ko-KR" altLang="en-US" sz="1100" dirty="0"/>
              <a:t> 등록 정보</a:t>
            </a:r>
          </a:p>
          <a:p>
            <a:r>
              <a:rPr lang="ko-KR" altLang="en-US" sz="1100" dirty="0"/>
              <a:t>CREATE TABLE </a:t>
            </a:r>
            <a:r>
              <a:rPr lang="ko-KR" altLang="en-US" sz="1100" dirty="0" err="1"/>
              <a:t>agents</a:t>
            </a:r>
            <a:r>
              <a:rPr lang="ko-KR" altLang="en-US" sz="1100" dirty="0"/>
              <a:t> (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id</a:t>
            </a:r>
            <a:r>
              <a:rPr lang="ko-KR" altLang="en-US" sz="1100" dirty="0"/>
              <a:t>          UUID PRIMARY KEY,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user_id</a:t>
            </a:r>
            <a:r>
              <a:rPr lang="ko-KR" altLang="en-US" sz="1100" dirty="0"/>
              <a:t>     UUID REFERENCES </a:t>
            </a:r>
            <a:r>
              <a:rPr lang="ko-KR" altLang="en-US" sz="1100" dirty="0" err="1"/>
              <a:t>users</a:t>
            </a:r>
            <a:r>
              <a:rPr lang="ko-KR" altLang="en-US" sz="1100" dirty="0"/>
              <a:t>(</a:t>
            </a:r>
            <a:r>
              <a:rPr lang="ko-KR" altLang="en-US" sz="1100" dirty="0" err="1"/>
              <a:t>id</a:t>
            </a:r>
            <a:r>
              <a:rPr lang="ko-KR" altLang="en-US" sz="1100" dirty="0"/>
              <a:t>),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agent_key</a:t>
            </a:r>
            <a:r>
              <a:rPr lang="ko-KR" altLang="en-US" sz="1100" dirty="0"/>
              <a:t>   VARCHAR(64) UNIQUE NOT NULL,  -- 인증 키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agent_name</a:t>
            </a:r>
            <a:r>
              <a:rPr lang="ko-KR" altLang="en-US" sz="1100" dirty="0"/>
              <a:t>  VARCHAR(100) NOT NULL,        -- "119agent"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slug</a:t>
            </a:r>
            <a:r>
              <a:rPr lang="ko-KR" altLang="en-US" sz="1100" dirty="0"/>
              <a:t>        VARCHAR(100) UNIQUE NOT NULL, -- URL </a:t>
            </a:r>
            <a:r>
              <a:rPr lang="ko-KR" altLang="en-US" sz="1100" dirty="0" err="1"/>
              <a:t>slug</a:t>
            </a:r>
            <a:r>
              <a:rPr lang="ko-KR" altLang="en-US" sz="1100" dirty="0"/>
              <a:t>: "119agent"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description</a:t>
            </a:r>
            <a:r>
              <a:rPr lang="ko-KR" altLang="en-US" sz="1100" dirty="0"/>
              <a:t> TEXT,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status</a:t>
            </a:r>
            <a:r>
              <a:rPr lang="ko-KR" altLang="en-US" sz="1100" dirty="0"/>
              <a:t>      VARCHAR(20) DEFAULT '</a:t>
            </a:r>
            <a:r>
              <a:rPr lang="ko-KR" altLang="en-US" sz="1100" dirty="0" err="1"/>
              <a:t>inactive</a:t>
            </a:r>
            <a:r>
              <a:rPr lang="ko-KR" altLang="en-US" sz="1100" dirty="0"/>
              <a:t>', -- </a:t>
            </a:r>
            <a:r>
              <a:rPr lang="ko-KR" altLang="en-US" sz="1100" dirty="0" err="1"/>
              <a:t>inactive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active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disconnected</a:t>
            </a:r>
            <a:endParaRPr lang="ko-KR" altLang="en-US" sz="1100" dirty="0"/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last_seen</a:t>
            </a:r>
            <a:r>
              <a:rPr lang="ko-KR" altLang="en-US" sz="1100" dirty="0"/>
              <a:t>   TIMESTAMP,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created_at</a:t>
            </a:r>
            <a:r>
              <a:rPr lang="ko-KR" altLang="en-US" sz="1100" dirty="0"/>
              <a:t>  TIMESTAMP DEFAULT NOW()</a:t>
            </a:r>
          </a:p>
          <a:p>
            <a:r>
              <a:rPr lang="ko-KR" altLang="en-US" sz="1100" dirty="0"/>
              <a:t>);</a:t>
            </a:r>
          </a:p>
          <a:p>
            <a:endParaRPr lang="ko-KR" altLang="en-US" sz="1100" dirty="0"/>
          </a:p>
          <a:p>
            <a:r>
              <a:rPr lang="ko-KR" altLang="en-US" sz="1100" dirty="0"/>
              <a:t>-- </a:t>
            </a:r>
            <a:r>
              <a:rPr lang="ko-KR" altLang="en-US" sz="1100" dirty="0" err="1"/>
              <a:t>Agent가</a:t>
            </a:r>
            <a:r>
              <a:rPr lang="ko-KR" altLang="en-US" sz="1100" dirty="0"/>
              <a:t> 관리하는 호스트</a:t>
            </a:r>
          </a:p>
          <a:p>
            <a:r>
              <a:rPr lang="ko-KR" altLang="en-US" sz="1100" dirty="0"/>
              <a:t>CREATE TABLE </a:t>
            </a:r>
            <a:r>
              <a:rPr lang="ko-KR" altLang="en-US" sz="1100" dirty="0" err="1"/>
              <a:t>agent_hosts</a:t>
            </a:r>
            <a:r>
              <a:rPr lang="ko-KR" altLang="en-US" sz="1100" dirty="0"/>
              <a:t> (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id</a:t>
            </a:r>
            <a:r>
              <a:rPr lang="ko-KR" altLang="en-US" sz="1100" dirty="0"/>
              <a:t>          UUID PRIMARY KEY,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agent_id</a:t>
            </a:r>
            <a:r>
              <a:rPr lang="ko-KR" altLang="en-US" sz="1100" dirty="0"/>
              <a:t>    UUID REFERENCES </a:t>
            </a:r>
            <a:r>
              <a:rPr lang="ko-KR" altLang="en-US" sz="1100" dirty="0" err="1"/>
              <a:t>agents</a:t>
            </a:r>
            <a:r>
              <a:rPr lang="ko-KR" altLang="en-US" sz="1100" dirty="0"/>
              <a:t>(</a:t>
            </a:r>
            <a:r>
              <a:rPr lang="ko-KR" altLang="en-US" sz="1100" dirty="0" err="1"/>
              <a:t>id</a:t>
            </a:r>
            <a:r>
              <a:rPr lang="ko-KR" altLang="en-US" sz="1100" dirty="0"/>
              <a:t>),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host_name</a:t>
            </a:r>
            <a:r>
              <a:rPr lang="ko-KR" altLang="en-US" sz="1100" dirty="0"/>
              <a:t>   VARCHAR(100) NOT NULL,        -- "119server"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host_addr</a:t>
            </a:r>
            <a:r>
              <a:rPr lang="ko-KR" altLang="en-US" sz="1100" dirty="0"/>
              <a:t>   VARCHAR(255),                 -- "</a:t>
            </a:r>
            <a:r>
              <a:rPr lang="ko-KR" altLang="en-US" sz="1100" dirty="0" err="1"/>
              <a:t>tcp</a:t>
            </a:r>
            <a:r>
              <a:rPr lang="ko-KR" altLang="en-US" sz="1100" dirty="0"/>
              <a:t>://10.1.0.119:2376"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status</a:t>
            </a:r>
            <a:r>
              <a:rPr lang="ko-KR" altLang="en-US" sz="1100" dirty="0"/>
              <a:t>      VARCHAR(20) DEFAULT '</a:t>
            </a:r>
            <a:r>
              <a:rPr lang="ko-KR" altLang="en-US" sz="1100" dirty="0" err="1"/>
              <a:t>active</a:t>
            </a:r>
            <a:r>
              <a:rPr lang="ko-KR" altLang="en-US" sz="1100" dirty="0"/>
              <a:t>',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created_at</a:t>
            </a:r>
            <a:r>
              <a:rPr lang="ko-KR" altLang="en-US" sz="1100" dirty="0"/>
              <a:t>  TIMESTAMP DEFAULT NOW()</a:t>
            </a:r>
          </a:p>
          <a:p>
            <a:r>
              <a:rPr lang="ko-KR" altLang="en-US" sz="11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0046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DBE841-40E1-42B0-AD5B-1B3421628573}"/>
              </a:ext>
            </a:extLst>
          </p:cNvPr>
          <p:cNvSpPr txBox="1"/>
          <p:nvPr/>
        </p:nvSpPr>
        <p:spPr>
          <a:xfrm>
            <a:off x="1041400" y="635000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Agent</a:t>
            </a:r>
            <a:r>
              <a:rPr lang="ko-KR" altLang="en-US" dirty="0"/>
              <a:t> 인증방식</a:t>
            </a: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E5E9D30-1E13-22C3-B966-6FBFBB89453C}"/>
              </a:ext>
            </a:extLst>
          </p:cNvPr>
          <p:cNvSpPr/>
          <p:nvPr/>
        </p:nvSpPr>
        <p:spPr>
          <a:xfrm>
            <a:off x="1587500" y="1625600"/>
            <a:ext cx="1955800" cy="482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agnet</a:t>
            </a:r>
            <a:r>
              <a:rPr lang="ko-KR" altLang="en-US" dirty="0">
                <a:solidFill>
                  <a:schemeClr val="tx1"/>
                </a:solidFill>
              </a:rPr>
              <a:t>시작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D484621-CCEB-62D6-ABD2-0003C4353F52}"/>
              </a:ext>
            </a:extLst>
          </p:cNvPr>
          <p:cNvSpPr/>
          <p:nvPr/>
        </p:nvSpPr>
        <p:spPr>
          <a:xfrm>
            <a:off x="1587500" y="2729468"/>
            <a:ext cx="1955800" cy="6995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gRPC</a:t>
            </a:r>
            <a:r>
              <a:rPr lang="en-US" altLang="ko-KR" dirty="0">
                <a:solidFill>
                  <a:schemeClr val="tx1"/>
                </a:solidFill>
              </a:rPr>
              <a:t> connect(TLS)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8EC78FA-9C5E-B8EF-A322-E5DB3A482F49}"/>
              </a:ext>
            </a:extLst>
          </p:cNvPr>
          <p:cNvSpPr/>
          <p:nvPr/>
        </p:nvSpPr>
        <p:spPr>
          <a:xfrm>
            <a:off x="1587500" y="3893066"/>
            <a:ext cx="1955800" cy="6995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Metadata</a:t>
            </a:r>
            <a:r>
              <a:rPr lang="ko-KR" altLang="en-US" dirty="0">
                <a:solidFill>
                  <a:schemeClr val="tx1"/>
                </a:solidFill>
              </a:rPr>
              <a:t>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Agent key</a:t>
            </a:r>
            <a:r>
              <a:rPr lang="ko-KR" altLang="en-US" dirty="0">
                <a:solidFill>
                  <a:schemeClr val="tx1"/>
                </a:solidFill>
              </a:rPr>
              <a:t>전송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C7948C3-FBC6-54E5-1DD4-F0DEC096F597}"/>
              </a:ext>
            </a:extLst>
          </p:cNvPr>
          <p:cNvSpPr/>
          <p:nvPr/>
        </p:nvSpPr>
        <p:spPr>
          <a:xfrm>
            <a:off x="1587500" y="4998998"/>
            <a:ext cx="1955800" cy="699532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Server: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Agent key</a:t>
            </a:r>
            <a:r>
              <a:rPr lang="ko-KR" altLang="en-US" dirty="0">
                <a:solidFill>
                  <a:schemeClr val="tx1"/>
                </a:solidFill>
              </a:rPr>
              <a:t>검증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C49ECA8-0A3D-9FBF-0756-8E81C83C7D5E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565400" y="2108200"/>
            <a:ext cx="0" cy="621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86C7E35-A1F3-3900-BC8E-82200D8C9E8A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2565400" y="3429000"/>
            <a:ext cx="0" cy="464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A2E9798-C309-61CA-252A-C1D95E9DB85A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2565400" y="4592598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3FBA52B-3F98-17FD-659C-8F597091D538}"/>
              </a:ext>
            </a:extLst>
          </p:cNvPr>
          <p:cNvCxnSpPr/>
          <p:nvPr/>
        </p:nvCxnSpPr>
        <p:spPr>
          <a:xfrm>
            <a:off x="3724275" y="4242832"/>
            <a:ext cx="7334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A73D819-63B4-0955-FDDA-BB771D357C0E}"/>
              </a:ext>
            </a:extLst>
          </p:cNvPr>
          <p:cNvSpPr txBox="1"/>
          <p:nvPr/>
        </p:nvSpPr>
        <p:spPr>
          <a:xfrm>
            <a:off x="4800600" y="3861832"/>
            <a:ext cx="3669594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Agent.env</a:t>
            </a:r>
            <a:r>
              <a:rPr lang="en-US" altLang="ko-KR" sz="1100" dirty="0"/>
              <a:t>:</a:t>
            </a:r>
          </a:p>
          <a:p>
            <a:r>
              <a:rPr lang="en-US" altLang="ko-KR" sz="1100" dirty="0"/>
              <a:t>SAAS_SERVER_ADDR=grpc.container-agent.com:50051</a:t>
            </a:r>
          </a:p>
          <a:p>
            <a:r>
              <a:rPr lang="en-US" altLang="ko-KR" sz="1100" dirty="0"/>
              <a:t>AGENT_KEY=</a:t>
            </a:r>
            <a:r>
              <a:rPr lang="en-US" altLang="ko-KR" sz="1100" dirty="0" err="1"/>
              <a:t>ak_xxxxxxxxxxxxxxxxxxxxxxxxxxxxxxxx</a:t>
            </a:r>
            <a:endParaRPr lang="en-US" altLang="ko-KR" sz="1100" dirty="0"/>
          </a:p>
          <a:p>
            <a:r>
              <a:rPr lang="en-US" altLang="ko-KR" sz="1100" dirty="0"/>
              <a:t>AGENT_NAME=119agent</a:t>
            </a:r>
          </a:p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7630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383</Words>
  <Application>Microsoft Office PowerPoint</Application>
  <PresentationFormat>와이드스크린</PresentationFormat>
  <Paragraphs>83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길동 윤</dc:creator>
  <cp:lastModifiedBy>길동 윤</cp:lastModifiedBy>
  <cp:revision>4</cp:revision>
  <dcterms:created xsi:type="dcterms:W3CDTF">2026-02-19T04:41:28Z</dcterms:created>
  <dcterms:modified xsi:type="dcterms:W3CDTF">2026-02-19T05:09:20Z</dcterms:modified>
</cp:coreProperties>
</file>